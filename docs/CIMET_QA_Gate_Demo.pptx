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62109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(20 sec): 'Sales calls are regulated. Before a sale goes to the retailer, someone has to be sure the agent said the right things. We built a gate that scores every sale from the call itself and gives one of three outcomes.'
KEY LINE to repeat all talk: the model helps read, the code decides.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HINT: Start with the cost asymmetry. A false pass (approve a bad sale) is far worse than a false hold. Everything in the design follows from that. If asked 'why not just use ChatGPT?', jump to slide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HINT: Walk left to right in one breath. Then point at the three cards: evidence, immutability, human control. These are the three things auditors ask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HINT: Read it as three columns: what the user touches (left), the scoring engine (middle), what is stored (right).
Point at the purple box: the LLM is one small box and it feeds an evaluator, not the gate. The green box is plain code.
Adding a check = adding a database row with a method (verbatim/factual/behaviour/semantic) and a config.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HINT: Three of the four methods are pure code. Say the ratio out loud: most checks are deterministic.
The engine always does locate -&gt; extract -&gt; validate: find the relevant lines, read the value, compare against the record. The record (CRM / rate card by call date) is the truth, never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HINT: Read the ladder top to bottom; stop at the first rule that matches.
Important nuance if asked: a check that errors sends the sale to review even if it looks clean. That is deliberate: 'a failed execution never approves'. It is a policy choice that can be relaxed later.
Hold = something is wrong. Human review = we cannot tell.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YOUR DEFENCE SLIDE.
1) Rates, emails, NMI, disclosures have exact answers, so use exact code. A model adds risk and no value.
2) Rapport and objection handling have no exact answer, so a model is the right tool, but they are non-critical and cannot approve or hold a sale alone.
3) LLM is not a fallback: a deterministic FAIL is never re-asked to a model 'to see if it changes its mind'.
If challenged: 'Which errors can a model make that code cannot? Confident wrong answers, and different answers on different days.'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HINT: Pick 2-3 to explain in detail rather than reading all eight. Good ones: 'off-peak vs peak' (a real bug we hit), hedged values, and conflicting values.
Every guard is a unit test in tests/test_false_pass_guards.py. All of them push toward UNCERTAIN or FAIL, never toward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HINT: Dual-channel is the trick: it is deterministic diarization. No model has to guess who is speaking.
Be honest: live Whisper can drop decimals or merge turns on fast speech. Every error we saw moved a sale to a MORE cautious gate, never toward approved.
We tried a Whisper prompt hint and removed it because it leaked its own words into the transcript.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HINT: This is the 'enterprise' slide. Auditors care about: which rules applied, what evidence, who changed what.
SQLite is used only by tests; the running app uses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SCRIPT: Use the 'Demo embedded transcript' provider for a guaranteed run, and mention Groq Whisper as the live option.
Suggested order: 01 (approved) -&gt; 02 (hold, show evidence + audio jump) -&gt; 06 (human review, explain why uncertainty is not a pass).
The form is prefilled from the 'Fill sample details' dropdown; you can edit any field.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HINT: Say 'the call did not change, the record did'. Then point to the run comparison: it shows which check flipped from FAIL to PASS.
The Demo data page only exists when DEMO_MODE=true and only allows edits to a whitelist of tables (leads, rate cards, transcript segments).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HINT: One sentence per row. Why each: FastAPI+Pydantic for typed contracts; Alembic for repeatable schema; PostgreSQL for JSONB and real concurrency; Groq for speed and a free tier; React+TS for a typed UI.
Secrets live in backend/.env which is git-ignored.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HINT: Say the limitation before anyone asks. It builds trust. The key sentence: 'Errors move sales toward hold or review, never toward approval.'
The one thing ASR cannot rule out is a mis-heard figure that equals the CRM value, which is why every check links to the exact audio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Repeat the three points, then take questions. Have docs/ARCHITECTURE_AND_INTERVIEW_PREP.md open for detailed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600" dirty="0">
                <a:solidFill>
                  <a:srgbClr val="0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CIMET QA GATE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916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the sale before it ships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1089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Evidence-backed QA of sales calls with a deterministic gate. The language model helps read the call. It never decides the outcome.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4754880"/>
            <a:ext cx="1737360" cy="457200"/>
          </a:xfrm>
          <a:prstGeom prst="roundRect">
            <a:avLst>
              <a:gd name="adj" fmla="val 20000"/>
            </a:avLst>
          </a:prstGeom>
          <a:solidFill>
            <a:srgbClr val="2E9E6B"/>
          </a:solidFill>
          <a:ln w="6350">
            <a:solidFill>
              <a:srgbClr val="2E9E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 txBox="1"/>
          <p:nvPr/>
        </p:nvSpPr>
        <p:spPr>
          <a:xfrm>
            <a:off x="731520" y="47548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651760" y="4754880"/>
            <a:ext cx="1737360" cy="457200"/>
          </a:xfrm>
          <a:prstGeom prst="roundRect">
            <a:avLst>
              <a:gd name="adj" fmla="val 20000"/>
            </a:avLst>
          </a:prstGeom>
          <a:solidFill>
            <a:srgbClr val="C8423B"/>
          </a:solidFill>
          <a:ln w="6350">
            <a:solidFill>
              <a:srgbClr val="C8423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2651760" y="47548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0" y="47548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E0A100"/>
          </a:solidFill>
          <a:ln w="6350">
            <a:solidFill>
              <a:srgbClr val="E0A1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 txBox="1"/>
          <p:nvPr/>
        </p:nvSpPr>
        <p:spPr>
          <a:xfrm>
            <a:off x="4572000" y="47548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5760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F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in  →  transcript  →  checks  →  gate  →  audit trail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QA gate, and why it must be conservative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 txBox="1"/>
          <p:nvPr/>
        </p:nvSpPr>
        <p:spPr>
          <a:xfrm>
            <a:off x="731520" y="1783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approval is expensive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94560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sale approved with a wrong rate, a missing disclosure or an unmuted payment reading creates compliance and customer harm. Missing a good sale is cheap by comparison.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15968" y="164592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4498848" y="1783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QA does not scale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498848" y="2194560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Reviewers listen to calls and compare against the CRM by hand. It is slow, inconsistent and hard to audit afterwards.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83296" y="164592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8266176" y="1783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pure LLM verdict is unsafe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66176" y="2194560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can sound confident and be wrong. It is not repeatable, and nobody can defend 'the AI said pass' to an auditor.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114800"/>
            <a:ext cx="11100816" cy="1737360"/>
          </a:xfrm>
          <a:prstGeom prst="roundRect">
            <a:avLst>
              <a:gd name="adj" fmla="val 4211"/>
            </a:avLst>
          </a:prstGeom>
          <a:solidFill>
            <a:srgbClr val="14213D"/>
          </a:solidFill>
          <a:ln w="635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822960" y="4297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rule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7091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Avoid a false pass at any cost. When the system is unsure it says so and sends the sale to a human. It would rather hold a good sale than approve a bad one.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system in one line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1F3158"/>
          </a:solidFill>
          <a:ln w="6350">
            <a:solidFill>
              <a:srgbClr val="1F315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 txBox="1"/>
          <p:nvPr/>
        </p:nvSpPr>
        <p:spPr>
          <a:xfrm>
            <a:off x="621792" y="2194560"/>
            <a:ext cx="18196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 call recording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532888" y="2788920"/>
            <a:ext cx="292608" cy="0"/>
          </a:xfrm>
          <a:prstGeom prst="line">
            <a:avLst/>
          </a:prstGeom>
          <a:noFill/>
          <a:ln w="22225">
            <a:solidFill>
              <a:srgbClr val="5B6577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2843784" y="219456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0B7A85"/>
          </a:solidFill>
          <a:ln w="6350">
            <a:solidFill>
              <a:srgbClr val="0B7A8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2916936" y="2194560"/>
            <a:ext cx="18196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Transcribe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Whisper or offline demo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828032" y="2788920"/>
            <a:ext cx="292608" cy="0"/>
          </a:xfrm>
          <a:prstGeom prst="line">
            <a:avLst/>
          </a:prstGeom>
          <a:noFill/>
          <a:ln w="22225">
            <a:solidFill>
              <a:srgbClr val="5B6577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5138928" y="219456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0B7A85"/>
          </a:solidFill>
          <a:ln w="6350">
            <a:solidFill>
              <a:srgbClr val="0B7A8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5212080" y="2194560"/>
            <a:ext cx="18196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transcript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+ timestamp + text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123176" y="2788920"/>
            <a:ext cx="292608" cy="0"/>
          </a:xfrm>
          <a:prstGeom prst="line">
            <a:avLst/>
          </a:prstGeom>
          <a:noFill/>
          <a:ln w="22225">
            <a:solidFill>
              <a:srgbClr val="5B6577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7434072" y="219456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1F3158"/>
          </a:solidFill>
          <a:ln w="6350">
            <a:solidFill>
              <a:srgbClr val="1F315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7507224" y="2194560"/>
            <a:ext cx="18196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16+ data-driven rules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418320" y="2788920"/>
            <a:ext cx="292608" cy="0"/>
          </a:xfrm>
          <a:prstGeom prst="line">
            <a:avLst/>
          </a:prstGeom>
          <a:noFill/>
          <a:ln w="22225">
            <a:solidFill>
              <a:srgbClr val="5B6577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9729216" y="219456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2E9E6B"/>
          </a:solidFill>
          <a:ln w="6350">
            <a:solidFill>
              <a:srgbClr val="2E9E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9802368" y="2194560"/>
            <a:ext cx="18196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code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840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stored in PostgreSQL  →  reviewer queue  →  human override  →  full audit trail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4572000"/>
            <a:ext cx="3566160" cy="1554480"/>
          </a:xfrm>
          <a:prstGeom prst="roundRect">
            <a:avLst>
              <a:gd name="adj" fmla="val 4706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731520" y="4709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has evidence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51206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check points to the exact transcript lines and the moment in the audio.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315968" y="4572000"/>
            <a:ext cx="3566160" cy="1554480"/>
          </a:xfrm>
          <a:prstGeom prst="roundRect">
            <a:avLst>
              <a:gd name="adj" fmla="val 4706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4498848" y="4709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run is immutable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4498848" y="51206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re-score creates a new run. Old results are never edited, so history is trustworthy.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083296" y="4572000"/>
            <a:ext cx="3566160" cy="1554480"/>
          </a:xfrm>
          <a:prstGeom prst="roundRect">
            <a:avLst>
              <a:gd name="adj" fmla="val 4706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8266176" y="4709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 stay in charge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266176" y="51206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Overrides need a reason code and keep the original machine result visible.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BUILT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1F3158"/>
          </a:solidFill>
          <a:ln w="6350">
            <a:solidFill>
              <a:srgbClr val="1F315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 txBox="1"/>
          <p:nvPr/>
        </p:nvSpPr>
        <p:spPr>
          <a:xfrm>
            <a:off x="621792" y="1737360"/>
            <a:ext cx="20482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UI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+ TypeScript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92608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14213D"/>
          </a:solidFill>
          <a:ln w="635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 txBox="1"/>
          <p:nvPr/>
        </p:nvSpPr>
        <p:spPr>
          <a:xfrm>
            <a:off x="621792" y="2926080"/>
            <a:ext cx="20482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routes, validation, 503 on DB down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645920" y="2560320"/>
            <a:ext cx="0" cy="365760"/>
          </a:xfrm>
          <a:prstGeom prst="line">
            <a:avLst/>
          </a:prstGeom>
          <a:noFill/>
          <a:ln w="22225">
            <a:solidFill>
              <a:srgbClr val="5B6577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548640" y="411480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0B7A85"/>
          </a:solidFill>
          <a:ln w="6350">
            <a:solidFill>
              <a:srgbClr val="0B7A8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 txBox="1"/>
          <p:nvPr/>
        </p:nvSpPr>
        <p:spPr>
          <a:xfrm>
            <a:off x="621792" y="4114800"/>
            <a:ext cx="20482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Transcription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Whisper / embedded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45920" y="3749040"/>
            <a:ext cx="0" cy="365760"/>
          </a:xfrm>
          <a:prstGeom prst="line">
            <a:avLst/>
          </a:prstGeom>
          <a:noFill/>
          <a:ln w="22225">
            <a:solidFill>
              <a:srgbClr val="5B6577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3291840" y="1737360"/>
            <a:ext cx="5120640" cy="3200400"/>
          </a:xfrm>
          <a:prstGeom prst="roundRect">
            <a:avLst>
              <a:gd name="adj" fmla="val 2857"/>
            </a:avLst>
          </a:prstGeom>
          <a:solidFill>
            <a:srgbClr val="E8F4F6"/>
          </a:solidFill>
          <a:ln w="12700">
            <a:solidFill>
              <a:srgbClr val="0FA3B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 txBox="1"/>
          <p:nvPr/>
        </p:nvSpPr>
        <p:spPr>
          <a:xfrm>
            <a:off x="3474720" y="18105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engine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520440" y="228600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1F3158"/>
          </a:solidFill>
          <a:ln w="6350">
            <a:solidFill>
              <a:srgbClr val="1F315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 txBox="1"/>
          <p:nvPr/>
        </p:nvSpPr>
        <p:spPr>
          <a:xfrm>
            <a:off x="3593592" y="2286000"/>
            <a:ext cx="1316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relevant lines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257800" y="228600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1F3158"/>
          </a:solidFill>
          <a:ln w="6350">
            <a:solidFill>
              <a:srgbClr val="1F315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5330952" y="2286000"/>
            <a:ext cx="1316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value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995160" y="2286000"/>
            <a:ext cx="1234440" cy="777240"/>
          </a:xfrm>
          <a:prstGeom prst="roundRect">
            <a:avLst>
              <a:gd name="adj" fmla="val 9412"/>
            </a:avLst>
          </a:prstGeom>
          <a:solidFill>
            <a:srgbClr val="1F3158"/>
          </a:solidFill>
          <a:ln w="6350">
            <a:solidFill>
              <a:srgbClr val="1F315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 txBox="1"/>
          <p:nvPr/>
        </p:nvSpPr>
        <p:spPr>
          <a:xfrm>
            <a:off x="7068312" y="2286000"/>
            <a:ext cx="10881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records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983480" y="2670048"/>
            <a:ext cx="274320" cy="0"/>
          </a:xfrm>
          <a:prstGeom prst="line">
            <a:avLst/>
          </a:prstGeom>
          <a:noFill/>
          <a:ln w="22225">
            <a:solidFill>
              <a:srgbClr val="5B6577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6720840" y="2670048"/>
            <a:ext cx="274320" cy="0"/>
          </a:xfrm>
          <a:prstGeom prst="line">
            <a:avLst/>
          </a:prstGeom>
          <a:noFill/>
          <a:ln w="22225">
            <a:solidFill>
              <a:srgbClr val="5B6577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3520440" y="3337560"/>
            <a:ext cx="2377440" cy="777240"/>
          </a:xfrm>
          <a:prstGeom prst="roundRect">
            <a:avLst>
              <a:gd name="adj" fmla="val 9412"/>
            </a:avLst>
          </a:prstGeom>
          <a:solidFill>
            <a:srgbClr val="0B7A85"/>
          </a:solidFill>
          <a:ln w="6350">
            <a:solidFill>
              <a:srgbClr val="0B7A8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3593592" y="3337560"/>
            <a:ext cx="22311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Evaluators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verbatim / factual / behaviour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172200" y="3337560"/>
            <a:ext cx="2057400" cy="777240"/>
          </a:xfrm>
          <a:prstGeom prst="roundRect">
            <a:avLst>
              <a:gd name="adj" fmla="val 9412"/>
            </a:avLst>
          </a:prstGeom>
          <a:solidFill>
            <a:srgbClr val="6B5BD2"/>
          </a:solidFill>
          <a:ln w="6350">
            <a:solidFill>
              <a:srgbClr val="6B5BD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 txBox="1"/>
          <p:nvPr/>
        </p:nvSpPr>
        <p:spPr>
          <a:xfrm>
            <a:off x="6245352" y="3337560"/>
            <a:ext cx="1911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interpreter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soft checks only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480560" y="3063240"/>
            <a:ext cx="0" cy="274320"/>
          </a:xfrm>
          <a:prstGeom prst="line">
            <a:avLst/>
          </a:prstGeom>
          <a:noFill/>
          <a:ln w="22225">
            <a:solidFill>
              <a:srgbClr val="5B6577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27" name="Shape 25"/>
          <p:cNvSpPr/>
          <p:nvPr/>
        </p:nvSpPr>
        <p:spPr>
          <a:xfrm>
            <a:off x="5897880" y="3721608"/>
            <a:ext cx="274320" cy="0"/>
          </a:xfrm>
          <a:prstGeom prst="line">
            <a:avLst/>
          </a:prstGeom>
          <a:noFill/>
          <a:ln w="22225">
            <a:solidFill>
              <a:srgbClr val="5B6577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3520440" y="4251960"/>
            <a:ext cx="4709160" cy="548640"/>
          </a:xfrm>
          <a:prstGeom prst="roundRect">
            <a:avLst>
              <a:gd name="adj" fmla="val 13333"/>
            </a:avLst>
          </a:prstGeom>
          <a:solidFill>
            <a:srgbClr val="2E9E6B"/>
          </a:solidFill>
          <a:ln w="6350">
            <a:solidFill>
              <a:srgbClr val="2E9E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 txBox="1"/>
          <p:nvPr/>
        </p:nvSpPr>
        <p:spPr>
          <a:xfrm>
            <a:off x="3593592" y="4251960"/>
            <a:ext cx="4562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policy (pure code)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754880" y="4114800"/>
            <a:ext cx="0" cy="137160"/>
          </a:xfrm>
          <a:prstGeom prst="line">
            <a:avLst/>
          </a:prstGeom>
          <a:noFill/>
          <a:ln w="22225">
            <a:solidFill>
              <a:srgbClr val="5B6577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2743200" y="3337560"/>
            <a:ext cx="548640" cy="0"/>
          </a:xfrm>
          <a:prstGeom prst="line">
            <a:avLst/>
          </a:prstGeom>
          <a:noFill/>
          <a:ln w="22225">
            <a:solidFill>
              <a:srgbClr val="5B6577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2743200" y="4526280"/>
            <a:ext cx="548640" cy="0"/>
          </a:xfrm>
          <a:prstGeom prst="line">
            <a:avLst/>
          </a:prstGeom>
          <a:noFill/>
          <a:ln w="22225">
            <a:solidFill>
              <a:srgbClr val="5B6577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31"/>
          <p:cNvSpPr/>
          <p:nvPr/>
        </p:nvSpPr>
        <p:spPr>
          <a:xfrm>
            <a:off x="8961120" y="1737360"/>
            <a:ext cx="2697480" cy="1005840"/>
          </a:xfrm>
          <a:prstGeom prst="roundRect">
            <a:avLst>
              <a:gd name="adj" fmla="val 7273"/>
            </a:avLst>
          </a:prstGeom>
          <a:solidFill>
            <a:srgbClr val="14213D"/>
          </a:solidFill>
          <a:ln w="635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 txBox="1"/>
          <p:nvPr/>
        </p:nvSpPr>
        <p:spPr>
          <a:xfrm>
            <a:off x="9034272" y="1737360"/>
            <a:ext cx="2551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leads, transcripts, runs, results, audit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8961120" y="2971800"/>
            <a:ext cx="2697480" cy="1005840"/>
          </a:xfrm>
          <a:prstGeom prst="roundRect">
            <a:avLst>
              <a:gd name="adj" fmla="val 7273"/>
            </a:avLst>
          </a:prstGeom>
          <a:solidFill>
            <a:srgbClr val="1F3158"/>
          </a:solidFill>
          <a:ln w="6350">
            <a:solidFill>
              <a:srgbClr val="1F315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 txBox="1"/>
          <p:nvPr/>
        </p:nvSpPr>
        <p:spPr>
          <a:xfrm>
            <a:off x="9034272" y="2971800"/>
            <a:ext cx="2551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storage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files (S3-ready interface)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8961120" y="420624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F3158"/>
          </a:solidFill>
          <a:ln w="6350">
            <a:solidFill>
              <a:srgbClr val="1F315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 txBox="1"/>
          <p:nvPr/>
        </p:nvSpPr>
        <p:spPr>
          <a:xfrm>
            <a:off x="9034272" y="4206240"/>
            <a:ext cx="2551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in the DB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are data, versioned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8412480" y="2240280"/>
            <a:ext cx="548640" cy="0"/>
          </a:xfrm>
          <a:prstGeom prst="line">
            <a:avLst/>
          </a:prstGeom>
          <a:noFill/>
          <a:ln w="22225">
            <a:solidFill>
              <a:srgbClr val="5B6577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2743200" y="2148840"/>
            <a:ext cx="548640" cy="0"/>
          </a:xfrm>
          <a:prstGeom prst="line">
            <a:avLst/>
          </a:prstGeom>
          <a:noFill/>
          <a:ln w="22225">
            <a:solidFill>
              <a:srgbClr val="5B6577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 txBox="1"/>
          <p:nvPr/>
        </p:nvSpPr>
        <p:spPr>
          <a:xfrm>
            <a:off x="548640" y="53035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Layers: API → services → repositories → models. The checklist lives in the database, so a new rule is a row, not a code change.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EVIDENCE ENGINE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Checks are data, evaluated by method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51760" cy="3108960"/>
          </a:xfrm>
          <a:prstGeom prst="roundRect">
            <a:avLst>
              <a:gd name="adj" fmla="val 2759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2286000" cy="457200"/>
          </a:xfrm>
          <a:prstGeom prst="roundRect">
            <a:avLst>
              <a:gd name="adj" fmla="val 20000"/>
            </a:avLst>
          </a:prstGeom>
          <a:solidFill>
            <a:srgbClr val="1F3158"/>
          </a:solidFill>
          <a:ln w="6350">
            <a:solidFill>
              <a:srgbClr val="1F315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Verbatim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60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agent say the required words?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2461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DMO disclosure, recording notice, cooling-off period. Exact phrase matching, tolerant of speech-to-text spacing.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46704" y="1737360"/>
            <a:ext cx="2651760" cy="3108960"/>
          </a:xfrm>
          <a:prstGeom prst="roundRect">
            <a:avLst>
              <a:gd name="adj" fmla="val 2759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3529584" y="1920240"/>
            <a:ext cx="2286000" cy="457200"/>
          </a:xfrm>
          <a:prstGeom prst="roundRect">
            <a:avLst>
              <a:gd name="adj" fmla="val 20000"/>
            </a:avLst>
          </a:prstGeom>
          <a:solidFill>
            <a:srgbClr val="0B7A85"/>
          </a:solidFill>
          <a:ln w="6350">
            <a:solidFill>
              <a:srgbClr val="0B7A8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3529584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Factual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529584" y="2560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what was said match the record?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529584" y="32461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Email, NMI, date of birth, address, rates, move-in date, concession, gift card. Compared with the CRM and rate card.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44768" y="1737360"/>
            <a:ext cx="2651760" cy="3108960"/>
          </a:xfrm>
          <a:prstGeom prst="roundRect">
            <a:avLst>
              <a:gd name="adj" fmla="val 2759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6327648" y="1920240"/>
            <a:ext cx="2286000" cy="457200"/>
          </a:xfrm>
          <a:prstGeom prst="roundRect">
            <a:avLst>
              <a:gd name="adj" fmla="val 20000"/>
            </a:avLst>
          </a:prstGeom>
          <a:solidFill>
            <a:srgbClr val="2E9E6B"/>
          </a:solidFill>
          <a:ln w="6350">
            <a:solidFill>
              <a:srgbClr val="2E9E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6327648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2560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did the call go?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327648" y="32461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air, interruptions, payment recording muted. Measured from timestamps, not opinion.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942832" y="1737360"/>
            <a:ext cx="2651760" cy="3108960"/>
          </a:xfrm>
          <a:prstGeom prst="roundRect">
            <a:avLst>
              <a:gd name="adj" fmla="val 2759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9125712" y="1920240"/>
            <a:ext cx="2286000" cy="457200"/>
          </a:xfrm>
          <a:prstGeom prst="roundRect">
            <a:avLst>
              <a:gd name="adj" fmla="val 20000"/>
            </a:avLst>
          </a:prstGeom>
          <a:solidFill>
            <a:srgbClr val="6B5BD2"/>
          </a:solidFill>
          <a:ln w="6350">
            <a:solidFill>
              <a:srgbClr val="6B5BD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 txBox="1"/>
          <p:nvPr/>
        </p:nvSpPr>
        <p:spPr>
          <a:xfrm>
            <a:off x="9125712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(LLM)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125712" y="2560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judgement only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125712" y="32461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 and objection handling. Non-critical, and asked only when needed.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212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check returns PASS, FAIL, UNCERTAIN or NOT_APPLICABLE, with the quoted lines and the audio time as evidence.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POLICY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gate is a short, readable ladder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64792"/>
            <a:ext cx="457200" cy="457200"/>
          </a:xfrm>
          <a:prstGeom prst="ellipse">
            <a:avLst/>
          </a:prstGeom>
          <a:solidFill>
            <a:srgbClr val="14213D"/>
          </a:solidFill>
          <a:ln w="635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 txBox="1"/>
          <p:nvPr/>
        </p:nvSpPr>
        <p:spPr>
          <a:xfrm>
            <a:off x="5486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691640"/>
            <a:ext cx="6035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check failed to run (error / incomplete)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315200" y="1764792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E0A100"/>
          </a:solidFill>
          <a:ln w="6350">
            <a:solidFill>
              <a:srgbClr val="E0A1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7315200" y="176479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514600"/>
            <a:ext cx="457200" cy="457200"/>
          </a:xfrm>
          <a:prstGeom prst="ellipse">
            <a:avLst/>
          </a:prstGeom>
          <a:solidFill>
            <a:srgbClr val="14213D"/>
          </a:solidFill>
          <a:ln w="635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 txBox="1"/>
          <p:nvPr/>
        </p:nvSpPr>
        <p:spPr>
          <a:xfrm>
            <a:off x="54864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441448"/>
            <a:ext cx="6035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critical check FAILS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0" y="25146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C8423B"/>
          </a:solidFill>
          <a:ln w="6350">
            <a:solidFill>
              <a:srgbClr val="C8423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 txBox="1"/>
          <p:nvPr/>
        </p:nvSpPr>
        <p:spPr>
          <a:xfrm>
            <a:off x="7315200" y="25146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264408"/>
            <a:ext cx="457200" cy="457200"/>
          </a:xfrm>
          <a:prstGeom prst="ellipse">
            <a:avLst/>
          </a:prstGeom>
          <a:solidFill>
            <a:srgbClr val="14213D"/>
          </a:solidFill>
          <a:ln w="635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 txBox="1"/>
          <p:nvPr/>
        </p:nvSpPr>
        <p:spPr>
          <a:xfrm>
            <a:off x="54864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191256"/>
            <a:ext cx="6035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critical check is UNCERTAIN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7315200" y="3264408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E0A100"/>
          </a:solidFill>
          <a:ln w="6350">
            <a:solidFill>
              <a:srgbClr val="E0A1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731520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014216"/>
            <a:ext cx="457200" cy="457200"/>
          </a:xfrm>
          <a:prstGeom prst="ellipse">
            <a:avLst/>
          </a:prstGeom>
          <a:solidFill>
            <a:srgbClr val="14213D"/>
          </a:solidFill>
          <a:ln w="635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48640" y="40142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3941064"/>
            <a:ext cx="6035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blocking non-critical check FAILS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7315200" y="4014216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C8423B"/>
          </a:solidFill>
          <a:ln w="6350">
            <a:solidFill>
              <a:srgbClr val="C8423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7315200" y="4014216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764024"/>
            <a:ext cx="457200" cy="457200"/>
          </a:xfrm>
          <a:prstGeom prst="ellipse">
            <a:avLst/>
          </a:prstGeom>
          <a:solidFill>
            <a:srgbClr val="14213D"/>
          </a:solidFill>
          <a:ln w="635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 txBox="1"/>
          <p:nvPr/>
        </p:nvSpPr>
        <p:spPr>
          <a:xfrm>
            <a:off x="548640" y="47640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4690872"/>
            <a:ext cx="6035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above applies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7315200" y="4764024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E9E6B"/>
          </a:solidFill>
          <a:ln w="6350">
            <a:solidFill>
              <a:srgbClr val="2E9E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 txBox="1"/>
          <p:nvPr/>
        </p:nvSpPr>
        <p:spPr>
          <a:xfrm>
            <a:off x="7315200" y="476402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509760" y="1691640"/>
            <a:ext cx="2148840" cy="3657600"/>
          </a:xfrm>
          <a:prstGeom prst="roundRect">
            <a:avLst>
              <a:gd name="adj" fmla="val 3404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 txBox="1"/>
          <p:nvPr/>
        </p:nvSpPr>
        <p:spPr>
          <a:xfrm>
            <a:off x="9692640" y="182880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is separate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692640" y="2240280"/>
            <a:ext cx="178308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QA score (0-100) measures quality. It never overrides the gate. A 95 can still be a HOLD.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66928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0B7A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matching rule wins. Uncertainty never approves.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DETERMINISTIC FIRST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language model is used, and where it is not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3246120"/>
          </a:xfrm>
          <a:prstGeom prst="roundRect">
            <a:avLst>
              <a:gd name="adj" fmla="val 2254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 txBox="1"/>
          <p:nvPr/>
        </p:nvSpPr>
        <p:spPr>
          <a:xfrm>
            <a:off x="777240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code (critical checks)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86000"/>
            <a:ext cx="4937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Repeatable: same call, same answer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Explainable: quote + rule + record value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Testable: 260+ automated tests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token cost, no rate limit, works offline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FAIL here is final: it never goes to a model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63640" y="1691640"/>
            <a:ext cx="5394960" cy="3246120"/>
          </a:xfrm>
          <a:prstGeom prst="roundRect">
            <a:avLst>
              <a:gd name="adj" fmla="val 2254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6492240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6B5B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(2 non-critical checks)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286000"/>
            <a:ext cx="4937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rapport and objection handling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Objection check runs only if a concern was raised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only the lines it needs, may cite only those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PASS with no valid citation becomes UNCERTAIN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Marked with an 'LLM' badge in the UI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5212080"/>
            <a:ext cx="11109960" cy="868680"/>
          </a:xfrm>
          <a:prstGeom prst="roundRect">
            <a:avLst>
              <a:gd name="adj" fmla="val 8421"/>
            </a:avLst>
          </a:prstGeom>
          <a:solidFill>
            <a:srgbClr val="14213D"/>
          </a:solidFill>
          <a:ln w="635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822960" y="52120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is an evidence interpreter, not a judge. It is not a fallback either: it handles judgement calls that have no exact answer.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BY DESIGN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Guards against a false pass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960120"/>
          </a:xfrm>
          <a:prstGeom prst="roundRect">
            <a:avLst>
              <a:gd name="adj" fmla="val 7619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731520" y="1892808"/>
            <a:ext cx="457200" cy="457200"/>
          </a:xfrm>
          <a:prstGeom prst="ellipse">
            <a:avLst/>
          </a:prstGeom>
          <a:solidFill>
            <a:srgbClr val="0FA3B1"/>
          </a:solidFill>
          <a:ln w="6350">
            <a:solidFill>
              <a:srgbClr val="0FA3B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 txBox="1"/>
          <p:nvPr/>
        </p:nvSpPr>
        <p:spPr>
          <a:xfrm>
            <a:off x="73152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719072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Word-boundary keywords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'peak rate' never matches inside 'off-peak rate'.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72200" y="1645920"/>
            <a:ext cx="5440680" cy="960120"/>
          </a:xfrm>
          <a:prstGeom prst="roundRect">
            <a:avLst>
              <a:gd name="adj" fmla="val 7619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6355080" y="1892808"/>
            <a:ext cx="457200" cy="457200"/>
          </a:xfrm>
          <a:prstGeom prst="ellipse">
            <a:avLst/>
          </a:prstGeom>
          <a:solidFill>
            <a:srgbClr val="0FA3B1"/>
          </a:solidFill>
          <a:ln w="6350">
            <a:solidFill>
              <a:srgbClr val="0FA3B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 txBox="1"/>
          <p:nvPr/>
        </p:nvSpPr>
        <p:spPr>
          <a:xfrm>
            <a:off x="635508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995160" y="1719072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required for rates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numbers with cents, $ or kWh count. 'for' is never read as 4.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2743200"/>
            <a:ext cx="5440680" cy="960120"/>
          </a:xfrm>
          <a:prstGeom prst="roundRect">
            <a:avLst>
              <a:gd name="adj" fmla="val 7619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731520" y="2990088"/>
            <a:ext cx="457200" cy="457200"/>
          </a:xfrm>
          <a:prstGeom prst="ellipse">
            <a:avLst/>
          </a:prstGeom>
          <a:solidFill>
            <a:srgbClr val="0FA3B1"/>
          </a:solidFill>
          <a:ln w="6350">
            <a:solidFill>
              <a:srgbClr val="0FA3B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731520" y="2990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2816352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Hedged means unverified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'around 33', 'between 33 and 34' → UNCERTAIN, even if the right number appears.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72200" y="2743200"/>
            <a:ext cx="5440680" cy="960120"/>
          </a:xfrm>
          <a:prstGeom prst="roundRect">
            <a:avLst>
              <a:gd name="adj" fmla="val 7619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6355080" y="2990088"/>
            <a:ext cx="457200" cy="457200"/>
          </a:xfrm>
          <a:prstGeom prst="ellipse">
            <a:avLst/>
          </a:prstGeom>
          <a:solidFill>
            <a:srgbClr val="0FA3B1"/>
          </a:solidFill>
          <a:ln w="6350">
            <a:solidFill>
              <a:srgbClr val="0FA3B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6355080" y="2990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995160" y="2816352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Conflicts escalate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 rates in one call → UNCERTAIN, never the first match.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3840480"/>
            <a:ext cx="5440680" cy="960120"/>
          </a:xfrm>
          <a:prstGeom prst="roundRect">
            <a:avLst>
              <a:gd name="adj" fmla="val 7619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731520" y="4087368"/>
            <a:ext cx="457200" cy="457200"/>
          </a:xfrm>
          <a:prstGeom prst="ellipse">
            <a:avLst/>
          </a:prstGeom>
          <a:solidFill>
            <a:srgbClr val="0FA3B1"/>
          </a:solidFill>
          <a:ln w="6350">
            <a:solidFill>
              <a:srgbClr val="0FA3B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 txBox="1"/>
          <p:nvPr/>
        </p:nvSpPr>
        <p:spPr>
          <a:xfrm>
            <a:off x="731520" y="4087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3913632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record = unsure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authoritative value to compare → UNCERTAIN.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172200" y="3840480"/>
            <a:ext cx="5440680" cy="960120"/>
          </a:xfrm>
          <a:prstGeom prst="roundRect">
            <a:avLst>
              <a:gd name="adj" fmla="val 7619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6355080" y="4087368"/>
            <a:ext cx="457200" cy="457200"/>
          </a:xfrm>
          <a:prstGeom prst="ellipse">
            <a:avLst/>
          </a:prstGeom>
          <a:solidFill>
            <a:srgbClr val="0FA3B1"/>
          </a:solidFill>
          <a:ln w="6350">
            <a:solidFill>
              <a:srgbClr val="0FA3B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6355080" y="4087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995160" y="3913632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confidence is not a pass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ASR confidence on a critical check → UNCERTAIN.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48640" y="4937760"/>
            <a:ext cx="5440680" cy="960120"/>
          </a:xfrm>
          <a:prstGeom prst="roundRect">
            <a:avLst>
              <a:gd name="adj" fmla="val 7619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731520" y="5184648"/>
            <a:ext cx="457200" cy="457200"/>
          </a:xfrm>
          <a:prstGeom prst="ellipse">
            <a:avLst/>
          </a:prstGeom>
          <a:solidFill>
            <a:srgbClr val="0FA3B1"/>
          </a:solidFill>
          <a:ln w="6350">
            <a:solidFill>
              <a:srgbClr val="0FA3B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 txBox="1"/>
          <p:nvPr/>
        </p:nvSpPr>
        <p:spPr>
          <a:xfrm>
            <a:off x="731520" y="5184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371600" y="5010912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 must be real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lines must be ones shown to the model.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172200" y="4937760"/>
            <a:ext cx="5440680" cy="960120"/>
          </a:xfrm>
          <a:prstGeom prst="roundRect">
            <a:avLst>
              <a:gd name="adj" fmla="val 7619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31"/>
          <p:cNvSpPr/>
          <p:nvPr/>
        </p:nvSpPr>
        <p:spPr>
          <a:xfrm>
            <a:off x="6355080" y="5184648"/>
            <a:ext cx="457200" cy="457200"/>
          </a:xfrm>
          <a:prstGeom prst="ellipse">
            <a:avLst/>
          </a:prstGeom>
          <a:solidFill>
            <a:srgbClr val="0FA3B1"/>
          </a:solidFill>
          <a:ln w="6350">
            <a:solidFill>
              <a:srgbClr val="0FA3B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 txBox="1"/>
          <p:nvPr/>
        </p:nvSpPr>
        <p:spPr>
          <a:xfrm>
            <a:off x="6355080" y="5184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6995160" y="5010912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in the next turn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and answer read together, wrong answers still FAIL.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TO TEXT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audio to a trustworthy transcript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468880" cy="1005840"/>
          </a:xfrm>
          <a:prstGeom prst="roundRect">
            <a:avLst>
              <a:gd name="adj" fmla="val 7273"/>
            </a:avLst>
          </a:prstGeom>
          <a:solidFill>
            <a:srgbClr val="1F3158"/>
          </a:solidFill>
          <a:ln w="6350">
            <a:solidFill>
              <a:srgbClr val="1F315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 txBox="1"/>
          <p:nvPr/>
        </p:nvSpPr>
        <p:spPr>
          <a:xfrm>
            <a:off x="621792" y="1737360"/>
            <a:ext cx="23225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Dual-channel WAV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left, customer right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035808" y="2240280"/>
            <a:ext cx="292608" cy="0"/>
          </a:xfrm>
          <a:prstGeom prst="line">
            <a:avLst/>
          </a:prstGeom>
          <a:noFill/>
          <a:ln w="22225">
            <a:solidFill>
              <a:srgbClr val="5B6577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3346704" y="1737360"/>
            <a:ext cx="2468880" cy="1005840"/>
          </a:xfrm>
          <a:prstGeom prst="roundRect">
            <a:avLst>
              <a:gd name="adj" fmla="val 7273"/>
            </a:avLst>
          </a:prstGeom>
          <a:solidFill>
            <a:srgbClr val="0B7A85"/>
          </a:solidFill>
          <a:ln w="6350">
            <a:solidFill>
              <a:srgbClr val="0B7A8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3419856" y="1737360"/>
            <a:ext cx="23225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Transcribe each channel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Whisper, word times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33872" y="2240280"/>
            <a:ext cx="292608" cy="0"/>
          </a:xfrm>
          <a:prstGeom prst="line">
            <a:avLst/>
          </a:prstGeom>
          <a:noFill/>
          <a:ln w="22225">
            <a:solidFill>
              <a:srgbClr val="5B6577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6144768" y="1737360"/>
            <a:ext cx="2468880" cy="1005840"/>
          </a:xfrm>
          <a:prstGeom prst="roundRect">
            <a:avLst>
              <a:gd name="adj" fmla="val 7273"/>
            </a:avLst>
          </a:prstGeom>
          <a:solidFill>
            <a:srgbClr val="1F3158"/>
          </a:solidFill>
          <a:ln w="6350">
            <a:solidFill>
              <a:srgbClr val="1F315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6217920" y="1737360"/>
            <a:ext cx="23225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to the audio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real speech (VAD)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631936" y="2240280"/>
            <a:ext cx="292608" cy="0"/>
          </a:xfrm>
          <a:prstGeom prst="line">
            <a:avLst/>
          </a:prstGeom>
          <a:noFill/>
          <a:ln w="22225">
            <a:solidFill>
              <a:srgbClr val="5B6577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8942832" y="1737360"/>
            <a:ext cx="2468880" cy="1005840"/>
          </a:xfrm>
          <a:prstGeom prst="roundRect">
            <a:avLst>
              <a:gd name="adj" fmla="val 7273"/>
            </a:avLst>
          </a:prstGeom>
          <a:solidFill>
            <a:srgbClr val="0B7A85"/>
          </a:solidFill>
          <a:ln w="6350">
            <a:solidFill>
              <a:srgbClr val="0B7A8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9015984" y="1737360"/>
            <a:ext cx="23225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transcript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speaker, start, end, text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200400"/>
            <a:ext cx="3566160" cy="2651760"/>
          </a:xfrm>
          <a:prstGeom prst="roundRect">
            <a:avLst>
              <a:gd name="adj" fmla="val 2759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731520" y="3337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Speakers, no guessing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749040"/>
            <a:ext cx="32004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channel is one person, so who spoke is measured, not inferred. Speaker 2 is the agent and Speaker 1 is the customer. Mono audio comes back UNKNOWN and speaker checks turn UNCERTAIN.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315968" y="3200400"/>
            <a:ext cx="3566160" cy="2651760"/>
          </a:xfrm>
          <a:prstGeom prst="roundRect">
            <a:avLst>
              <a:gd name="adj" fmla="val 2759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 txBox="1"/>
          <p:nvPr/>
        </p:nvSpPr>
        <p:spPr>
          <a:xfrm>
            <a:off x="4498848" y="3337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Timestamps you can click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4498848" y="3749040"/>
            <a:ext cx="32004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 times drift, so lines are clamped to where speech was measured. Every check shows its audio time and the player can jump there.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083296" y="3200400"/>
            <a:ext cx="3566160" cy="2651760"/>
          </a:xfrm>
          <a:prstGeom prst="roundRect">
            <a:avLst>
              <a:gd name="adj" fmla="val 2759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 txBox="1"/>
          <p:nvPr/>
        </p:nvSpPr>
        <p:spPr>
          <a:xfrm>
            <a:off x="8266176" y="3337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demo mode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266176" y="3749040"/>
            <a:ext cx="32004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generated demo recordings carry their own transcript inside the WAV. The demo works with no network and always gives the intended result.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VERSIONING, IMMUTABILITY, AUDIT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 built into the data model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 txBox="1"/>
          <p:nvPr/>
        </p:nvSpPr>
        <p:spPr>
          <a:xfrm>
            <a:off x="731520" y="1783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versioning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94560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are versioned. The version used depends on the call date, so an old call is judged by the rules that applied then.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15968" y="164592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4498848" y="1783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scoring runs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498848" y="2194560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Re-scoring creates a new run. Old runs and their evidence stay exactly as they were.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83296" y="164592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8266176" y="1783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Overrides keep the original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66176" y="2194560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reviewer overrides with a reason code. The machine result stays visible next to it.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02336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731520" y="4160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events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4572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Scoring, overrides, transcription and demo-data edits are all logged with who, what and when.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315968" y="402336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4498848" y="4160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Authoritative sources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498848" y="4572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Rates come from the rate card in force on the call date. Lead data comes from the CRM record.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083296" y="402336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8266176" y="4160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already removed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266176" y="4572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sample transcript had no PII. Demo values are synthetic and the API key is never committed.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SHOW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 flow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88720" y="1737360"/>
            <a:ext cx="731520" cy="731520"/>
          </a:xfrm>
          <a:prstGeom prst="ellipse">
            <a:avLst/>
          </a:prstGeom>
          <a:solidFill>
            <a:srgbClr val="0FA3B1"/>
          </a:solidFill>
          <a:ln w="6350">
            <a:solidFill>
              <a:srgbClr val="0FA3B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 txBox="1"/>
          <p:nvPr/>
        </p:nvSpPr>
        <p:spPr>
          <a:xfrm>
            <a:off x="1188720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06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Lead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9718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 call recording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474720" y="1737360"/>
            <a:ext cx="731520" cy="731520"/>
          </a:xfrm>
          <a:prstGeom prst="ellipse">
            <a:avLst/>
          </a:prstGeom>
          <a:solidFill>
            <a:srgbClr val="0FA3B1"/>
          </a:solidFill>
          <a:ln w="6350">
            <a:solidFill>
              <a:srgbClr val="0FA3B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 txBox="1"/>
          <p:nvPr/>
        </p:nvSpPr>
        <p:spPr>
          <a:xfrm>
            <a:off x="3474720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2834640" y="2606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Transcribe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29718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canonical, timestamped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760720" y="1737360"/>
            <a:ext cx="731520" cy="731520"/>
          </a:xfrm>
          <a:prstGeom prst="ellipse">
            <a:avLst/>
          </a:prstGeom>
          <a:solidFill>
            <a:srgbClr val="0FA3B1"/>
          </a:solidFill>
          <a:ln w="6350">
            <a:solidFill>
              <a:srgbClr val="0FA3B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 txBox="1"/>
          <p:nvPr/>
        </p:nvSpPr>
        <p:spPr>
          <a:xfrm>
            <a:off x="5760720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2606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details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29718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form, sample values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046720" y="1737360"/>
            <a:ext cx="731520" cy="731520"/>
          </a:xfrm>
          <a:prstGeom prst="ellipse">
            <a:avLst/>
          </a:prstGeom>
          <a:solidFill>
            <a:srgbClr val="0FA3B1"/>
          </a:solidFill>
          <a:ln w="6350">
            <a:solidFill>
              <a:srgbClr val="0FA3B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8046720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7406640" y="2606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&amp; Score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406640" y="29718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in PostgreSQL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10332720" y="1737360"/>
            <a:ext cx="731520" cy="731520"/>
          </a:xfrm>
          <a:prstGeom prst="ellipse">
            <a:avLst/>
          </a:prstGeom>
          <a:solidFill>
            <a:srgbClr val="0FA3B1"/>
          </a:solidFill>
          <a:ln w="6350">
            <a:solidFill>
              <a:srgbClr val="0FA3B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 txBox="1"/>
          <p:nvPr/>
        </p:nvSpPr>
        <p:spPr>
          <a:xfrm>
            <a:off x="10332720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0" y="2606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result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0" y="29718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+ evidence + audio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931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outcomes from real recordings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48640" y="4389120"/>
            <a:ext cx="3566160" cy="164592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731520" y="4526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493776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clean call, 10 objection handled.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315968" y="4389120"/>
            <a:ext cx="3566160" cy="164592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 txBox="1"/>
          <p:nvPr/>
        </p:nvSpPr>
        <p:spPr>
          <a:xfrm>
            <a:off x="4498848" y="4526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84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4498848" y="493776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wrong rate, 03 no disclaimer, 04 email mismatch, 08 payment not muted.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083296" y="4389120"/>
            <a:ext cx="3566160" cy="164592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 txBox="1"/>
          <p:nvPr/>
        </p:nvSpPr>
        <p:spPr>
          <a:xfrm>
            <a:off x="8266176" y="4526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A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8266176" y="493776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rate corrected, 06 life support unclear, 07 hedged rate.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DATA PAGE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Rescore demo: HOLD becomes APPROVED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377440" cy="1097280"/>
          </a:xfrm>
          <a:prstGeom prst="roundRect">
            <a:avLst>
              <a:gd name="adj" fmla="val 6667"/>
            </a:avLst>
          </a:prstGeom>
          <a:solidFill>
            <a:srgbClr val="C8423B"/>
          </a:solidFill>
          <a:ln w="6350">
            <a:solidFill>
              <a:srgbClr val="C8423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 txBox="1"/>
          <p:nvPr/>
        </p:nvSpPr>
        <p:spPr>
          <a:xfrm>
            <a:off x="621792" y="1828800"/>
            <a:ext cx="22311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HOLD sale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02: wrong peak rate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83280" y="1828800"/>
            <a:ext cx="2377440" cy="1097280"/>
          </a:xfrm>
          <a:prstGeom prst="roundRect">
            <a:avLst>
              <a:gd name="adj" fmla="val 6667"/>
            </a:avLst>
          </a:prstGeom>
          <a:solidFill>
            <a:srgbClr val="1F3158"/>
          </a:solidFill>
          <a:ln w="6350">
            <a:solidFill>
              <a:srgbClr val="1F315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 txBox="1"/>
          <p:nvPr/>
        </p:nvSpPr>
        <p:spPr>
          <a:xfrm>
            <a:off x="3456432" y="1828800"/>
            <a:ext cx="22311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the rate card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data page, audited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828800"/>
            <a:ext cx="2377440" cy="1097280"/>
          </a:xfrm>
          <a:prstGeom prst="roundRect">
            <a:avLst>
              <a:gd name="adj" fmla="val 6667"/>
            </a:avLst>
          </a:prstGeom>
          <a:solidFill>
            <a:srgbClr val="0B7A85"/>
          </a:solidFill>
          <a:ln w="6350">
            <a:solidFill>
              <a:srgbClr val="0B7A8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 txBox="1"/>
          <p:nvPr/>
        </p:nvSpPr>
        <p:spPr>
          <a:xfrm>
            <a:off x="6291072" y="1828800"/>
            <a:ext cx="22311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Re-score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 new run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052560" y="1828800"/>
            <a:ext cx="2560320" cy="1097280"/>
          </a:xfrm>
          <a:prstGeom prst="roundRect">
            <a:avLst>
              <a:gd name="adj" fmla="val 6667"/>
            </a:avLst>
          </a:prstGeom>
          <a:solidFill>
            <a:srgbClr val="2E9E6B"/>
          </a:solidFill>
          <a:ln w="6350">
            <a:solidFill>
              <a:srgbClr val="2E9E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9125712" y="1828800"/>
            <a:ext cx="24140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comparison shows the change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944368" y="2377440"/>
            <a:ext cx="420624" cy="0"/>
          </a:xfrm>
          <a:prstGeom prst="line">
            <a:avLst/>
          </a:prstGeom>
          <a:noFill/>
          <a:ln w="22225">
            <a:solidFill>
              <a:srgbClr val="5B6577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5779008" y="2377440"/>
            <a:ext cx="420624" cy="0"/>
          </a:xfrm>
          <a:prstGeom prst="line">
            <a:avLst/>
          </a:prstGeom>
          <a:noFill/>
          <a:ln w="22225">
            <a:solidFill>
              <a:srgbClr val="5B6577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8613648" y="2377440"/>
            <a:ext cx="420624" cy="0"/>
          </a:xfrm>
          <a:prstGeom prst="line">
            <a:avLst/>
          </a:prstGeom>
          <a:noFill/>
          <a:ln w="22225">
            <a:solidFill>
              <a:srgbClr val="5B6577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548640" y="3474720"/>
            <a:ext cx="5440680" cy="2468880"/>
          </a:xfrm>
          <a:prstGeom prst="roundRect">
            <a:avLst>
              <a:gd name="adj" fmla="val 2963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731520" y="361188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proves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02336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 reacts to the data, not to a story. Change the authoritative rate and the same call now passes. Nothing was hand-picked.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17920" y="3474720"/>
            <a:ext cx="5440680" cy="2468880"/>
          </a:xfrm>
          <a:prstGeom prst="roundRect">
            <a:avLst>
              <a:gd name="adj" fmla="val 2963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 txBox="1"/>
          <p:nvPr/>
        </p:nvSpPr>
        <p:spPr>
          <a:xfrm>
            <a:off x="6400800" y="361188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stays true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402336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HOLD run is untouched. Both runs remain in history, and the edit is in the audit log. Reset restores the seed data.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and technologies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1280160"/>
          </a:xfrm>
          <a:prstGeom prst="roundRect">
            <a:avLst>
              <a:gd name="adj" fmla="val 5714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731520" y="1828800"/>
            <a:ext cx="1371600" cy="411480"/>
          </a:xfrm>
          <a:prstGeom prst="roundRect">
            <a:avLst>
              <a:gd name="adj" fmla="val 22222"/>
            </a:avLst>
          </a:prstGeom>
          <a:solidFill>
            <a:srgbClr val="1F3158"/>
          </a:solidFill>
          <a:ln w="6350">
            <a:solidFill>
              <a:srgbClr val="1F315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 txBox="1"/>
          <p:nvPr/>
        </p:nvSpPr>
        <p:spPr>
          <a:xfrm>
            <a:off x="731520" y="18288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33172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3.12, FastAPI, Pydantic v2, SQLAlchemy 2, Alembic (migrations), pytest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72200" y="1645920"/>
            <a:ext cx="5440680" cy="1280160"/>
          </a:xfrm>
          <a:prstGeom prst="roundRect">
            <a:avLst>
              <a:gd name="adj" fmla="val 5714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6355080" y="1828800"/>
            <a:ext cx="1371600" cy="411480"/>
          </a:xfrm>
          <a:prstGeom prst="roundRect">
            <a:avLst>
              <a:gd name="adj" fmla="val 22222"/>
            </a:avLst>
          </a:prstGeom>
          <a:solidFill>
            <a:srgbClr val="0B7A85"/>
          </a:solidFill>
          <a:ln w="6350">
            <a:solidFill>
              <a:srgbClr val="0B7A8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 txBox="1"/>
          <p:nvPr/>
        </p:nvSpPr>
        <p:spPr>
          <a:xfrm>
            <a:off x="6355080" y="18288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233172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 in Docker (port 5433). SQLite for tests only.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5440680" cy="1280160"/>
          </a:xfrm>
          <a:prstGeom prst="roundRect">
            <a:avLst>
              <a:gd name="adj" fmla="val 5714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731520" y="3291840"/>
            <a:ext cx="1371600" cy="411480"/>
          </a:xfrm>
          <a:prstGeom prst="roundRect">
            <a:avLst>
              <a:gd name="adj" fmla="val 22222"/>
            </a:avLst>
          </a:prstGeom>
          <a:solidFill>
            <a:srgbClr val="1F3158"/>
          </a:solidFill>
          <a:ln w="6350">
            <a:solidFill>
              <a:srgbClr val="1F315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731520" y="32918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9476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18, TypeScript, Vite, React Router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72200" y="3108960"/>
            <a:ext cx="5440680" cy="1280160"/>
          </a:xfrm>
          <a:prstGeom prst="roundRect">
            <a:avLst>
              <a:gd name="adj" fmla="val 5714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6355080" y="3291840"/>
            <a:ext cx="1371600" cy="411480"/>
          </a:xfrm>
          <a:prstGeom prst="roundRect">
            <a:avLst>
              <a:gd name="adj" fmla="val 22222"/>
            </a:avLst>
          </a:prstGeom>
          <a:solidFill>
            <a:srgbClr val="6B5BD2"/>
          </a:solidFill>
          <a:ln w="6350">
            <a:solidFill>
              <a:srgbClr val="6B5BD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6355080" y="32918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services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355080" y="379476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Groq: gpt-oss-120b (2 soft checks), Whisper large-v3-turbo (speech to text)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572000"/>
            <a:ext cx="5440680" cy="1280160"/>
          </a:xfrm>
          <a:prstGeom prst="roundRect">
            <a:avLst>
              <a:gd name="adj" fmla="val 5714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731520" y="4754880"/>
            <a:ext cx="1371600" cy="411480"/>
          </a:xfrm>
          <a:prstGeom prst="roundRect">
            <a:avLst>
              <a:gd name="adj" fmla="val 22222"/>
            </a:avLst>
          </a:prstGeom>
          <a:solidFill>
            <a:srgbClr val="0B7A85"/>
          </a:solidFill>
          <a:ln w="6350">
            <a:solidFill>
              <a:srgbClr val="0B7A8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 txBox="1"/>
          <p:nvPr/>
        </p:nvSpPr>
        <p:spPr>
          <a:xfrm>
            <a:off x="731520" y="47548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audio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525780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speech synthesis (SAPI voices), stereo mixing, embedded transcript in WAV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72200" y="4572000"/>
            <a:ext cx="5440680" cy="1280160"/>
          </a:xfrm>
          <a:prstGeom prst="roundRect">
            <a:avLst>
              <a:gd name="adj" fmla="val 5714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6355080" y="4754880"/>
            <a:ext cx="1371600" cy="411480"/>
          </a:xfrm>
          <a:prstGeom prst="roundRect">
            <a:avLst>
              <a:gd name="adj" fmla="val 22222"/>
            </a:avLst>
          </a:prstGeom>
          <a:solidFill>
            <a:srgbClr val="2E9E6B"/>
          </a:solidFill>
          <a:ln w="6350">
            <a:solidFill>
              <a:srgbClr val="2E9E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6355080" y="47548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355080" y="525780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260+ tests, deterministic evaluators, false-pass guard suite, scenario tests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AND LIMITS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verified, and what we are honest about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635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FA3B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260+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560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passing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46704" y="164592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635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3346704" y="1737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FA3B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11/11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3483864" y="2560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calls hit the intended gate offline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44768" y="164592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635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6144768" y="1737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FA3B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6281928" y="2560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use an LLM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942832" y="164592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635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8942832" y="1737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FA3B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9079992" y="2560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decided by a model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429000"/>
            <a:ext cx="5440680" cy="2651760"/>
          </a:xfrm>
          <a:prstGeom prst="roundRect">
            <a:avLst>
              <a:gd name="adj" fmla="val 2759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731520" y="356616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we state up front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3977640"/>
            <a:ext cx="50749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speech recognition can lose decimals or merge turns on fast speech; every error we saw made the gate MORE cautious.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 audio gives UNKNOWN speakers.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free tier is rate limited.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audio generation needs Windows.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3429000"/>
            <a:ext cx="5440680" cy="2651760"/>
          </a:xfrm>
          <a:prstGeom prst="roundRect">
            <a:avLst>
              <a:gd name="adj" fmla="val 2759"/>
            </a:avLst>
          </a:prstGeom>
          <a:solidFill>
            <a:srgbClr val="F4F7FA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6400800" y="356616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0" y="3977640"/>
            <a:ext cx="50749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Audio-level checks for mis-heard figures (second recogniser or human spot check).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and roles for reviewers.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CIMET adapters for the real CRM, checklist and transcript schema.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model tier for bulk scoring.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the sale before it ships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9144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gate, explainable evidence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by default: uncertainty goes to a human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run, override and edit is auditable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303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i="1" dirty="0">
                <a:solidFill>
                  <a:srgbClr val="0FA3B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Questions?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2604</Words>
  <Application>Microsoft Office PowerPoint</Application>
  <PresentationFormat>Widescreen</PresentationFormat>
  <Paragraphs>276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CIMET QA Gate - Score the Sale Before It Ships</dc:title>
  <dc:subject>PptxGenJS Presentation</dc:subject>
  <dc:creator>PptxGenJS</dc:creator>
  <cp:lastModifiedBy>User 1</cp:lastModifiedBy>
  <cp:revision>1</cp:revision>
  <dcterms:created xsi:type="dcterms:W3CDTF">2026-09-19T09:43:27Z</dcterms:created>
  <dcterms:modified xsi:type="dcterms:W3CDTF">2026-09-19T10:18:28Z</dcterms:modified>
</cp:coreProperties>
</file>